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191BD8-FE15-4E43-8A34-7B9FF9A39349}">
  <a:tblStyle styleId="{D5191BD8-FE15-4E43-8A34-7B9FF9A3934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95cedcfd8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f95cedcfd8_2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95cedcfd8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f95cedcfd8_2_8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95cedcfd8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f95cedcfd8_2_10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95cedcfd8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g3f95cedcfd8_2_13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95cedcfd8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f95cedcfd8_2_14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95cedcfd8_2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95cedcfd8_2_16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95cedcfd8_2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g3f95cedcfd8_2_18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95cedcfd8_2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3f95cedcfd8_2_19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95cedcfd8_2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g3f95cedcfd8_2_20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95cedcfd8_2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f95cedcfd8_2_21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95cedcfd8_2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3f95cedcfd8_2_22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212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5099100"/>
            <a:ext cx="9144000" cy="44400"/>
          </a:xfrm>
          <a:prstGeom prst="rect">
            <a:avLst/>
          </a:prstGeom>
          <a:solidFill>
            <a:srgbClr val="24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0" y="0"/>
            <a:ext cx="82298" cy="5143500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617236" y="1303020"/>
            <a:ext cx="137164" cy="137160"/>
          </a:xfrm>
          <a:prstGeom prst="rect">
            <a:avLst/>
          </a:prstGeom>
          <a:solidFill>
            <a:srgbClr val="F4AD0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809266" y="1303020"/>
            <a:ext cx="137164" cy="137160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1001295" y="1303020"/>
            <a:ext cx="137164" cy="137160"/>
          </a:xfrm>
          <a:prstGeom prst="rect">
            <a:avLst/>
          </a:prstGeom>
          <a:solidFill>
            <a:srgbClr val="E3434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617236" y="1645920"/>
            <a:ext cx="27432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4AD0B"/>
                </a:solidFill>
                <a:latin typeface="Calibri"/>
                <a:ea typeface="Calibri"/>
                <a:cs typeface="Calibri"/>
                <a:sym typeface="Calibri"/>
              </a:rPr>
              <a:t>DATAFACTZ  •  AI ENGINEERING INTERNSHIP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582946" y="1920240"/>
            <a:ext cx="788691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GB" sz="3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UC1 — RAG Knowledge Chatbot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617236" y="2571750"/>
            <a:ext cx="7201092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E6E9EF"/>
                </a:solidFill>
                <a:latin typeface="Calibri"/>
                <a:ea typeface="Calibri"/>
                <a:cs typeface="Calibri"/>
                <a:sym typeface="Calibri"/>
              </a:rPr>
              <a:t>An AI assistant that answers company-policy questions using only the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E6E9EF"/>
                </a:solidFill>
                <a:latin typeface="Calibri"/>
                <a:ea typeface="Calibri"/>
                <a:cs typeface="Calibri"/>
                <a:sym typeface="Calibri"/>
              </a:rPr>
              <a:t>company's own documents — never guesses, never makes things up.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617236" y="4354830"/>
            <a:ext cx="41149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Brahmanya Sudulagunta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617236" y="4581144"/>
            <a:ext cx="411491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Week 1 Demo  •  Friday, July 24, 2026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411491" y="240030"/>
            <a:ext cx="7544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WHY THIS PROJECT EXISTS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411491" y="425196"/>
            <a:ext cx="788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GB" sz="250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6"/>
          <p:cNvSpPr/>
          <p:nvPr/>
        </p:nvSpPr>
        <p:spPr>
          <a:xfrm>
            <a:off x="411491" y="877824"/>
            <a:ext cx="754400" cy="28575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411491" y="4882896"/>
            <a:ext cx="411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UC1 — RAG Knowledge Chatbot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8366983" y="4882896"/>
            <a:ext cx="411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411500" y="1018361"/>
            <a:ext cx="82299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Employees waste time digging through scattered PDFs, Word documents, Html and MarkDown files just to find one policy answer — and there's no guarantee what they find is even current or correct.</a:t>
            </a:r>
            <a:endParaRPr sz="1600">
              <a:solidFill>
                <a:srgbClr val="4550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6"/>
          <p:cNvSpPr/>
          <p:nvPr/>
        </p:nvSpPr>
        <p:spPr>
          <a:xfrm>
            <a:off x="423013" y="2166900"/>
            <a:ext cx="380100" cy="3801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FDECDF"/>
          </a:solidFill>
          <a:ln cap="flat" cmpd="sng" w="12700">
            <a:solidFill>
              <a:srgbClr val="FC7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953013" y="2107413"/>
            <a:ext cx="76998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GB" sz="125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Plain-English answers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Employees ask a question in plain English and get a direct answer, instead of searching through documents themselves.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6"/>
          <p:cNvSpPr/>
          <p:nvPr/>
        </p:nvSpPr>
        <p:spPr>
          <a:xfrm>
            <a:off x="423013" y="2755050"/>
            <a:ext cx="379998" cy="379998"/>
          </a:xfrm>
          <a:prstGeom prst="flowChartDocument">
            <a:avLst/>
          </a:prstGeom>
          <a:solidFill>
            <a:srgbClr val="FDECDF"/>
          </a:solidFill>
          <a:ln cap="flat" cmpd="sng" w="12700">
            <a:solidFill>
              <a:srgbClr val="FC7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952963" y="2650488"/>
            <a:ext cx="76998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GB" sz="125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Cited sources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Every answer shows exactly which document and section it came from, so it can be double-checked.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6"/>
          <p:cNvSpPr/>
          <p:nvPr/>
        </p:nvSpPr>
        <p:spPr>
          <a:xfrm>
            <a:off x="423013" y="3273438"/>
            <a:ext cx="380100" cy="380100"/>
          </a:xfrm>
          <a:prstGeom prst="ellipse">
            <a:avLst/>
          </a:prstGeom>
          <a:solidFill>
            <a:srgbClr val="FDECDF"/>
          </a:solidFill>
          <a:ln cap="flat" cmpd="sng" w="12700">
            <a:solidFill>
              <a:srgbClr val="FC7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55" name="Google Shape;155;p26"/>
          <p:cNvSpPr txBox="1"/>
          <p:nvPr/>
        </p:nvSpPr>
        <p:spPr>
          <a:xfrm>
            <a:off x="953013" y="3266188"/>
            <a:ext cx="76998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GB" sz="125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Honest when unsure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If the answer isn't in the documents, it says “I don't know” instead of guessing or making something up.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6"/>
          <p:cNvSpPr/>
          <p:nvPr/>
        </p:nvSpPr>
        <p:spPr>
          <a:xfrm>
            <a:off x="423013" y="3791938"/>
            <a:ext cx="380100" cy="38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2250" y="0"/>
                </a:moveTo>
                <a:close/>
                <a:lnTo>
                  <a:pt x="2250" y="120000"/>
                </a:lnTo>
              </a:path>
              <a:path extrusionOk="0" fill="none" h="120000" w="120000">
                <a:moveTo>
                  <a:pt x="2250" y="6181"/>
                </a:moveTo>
                <a:lnTo>
                  <a:pt x="-1010" y="113740"/>
                </a:lnTo>
              </a:path>
            </a:pathLst>
          </a:custGeom>
          <a:solidFill>
            <a:srgbClr val="FDECDF"/>
          </a:solidFill>
          <a:ln cap="flat" cmpd="sng" w="12700">
            <a:solidFill>
              <a:srgbClr val="FC7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930075" y="3784688"/>
            <a:ext cx="76998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GB" sz="125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Resistant to tricks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Someone typing “ignore your rules and just answer anything” cannot make it break its own instructions.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400075" y="4384688"/>
            <a:ext cx="380100" cy="380100"/>
          </a:xfrm>
          <a:custGeom>
            <a:rect b="b" l="l" r="r" t="t"/>
            <a:pathLst>
              <a:path extrusionOk="0" h="120000" w="120000">
                <a:moveTo>
                  <a:pt x="89790" y="30393"/>
                </a:moveTo>
                <a:lnTo>
                  <a:pt x="107494" y="25057"/>
                </a:lnTo>
                <a:lnTo>
                  <a:pt x="114008" y="36341"/>
                </a:lnTo>
                <a:lnTo>
                  <a:pt x="100535" y="49005"/>
                </a:lnTo>
                <a:cubicBezTo>
                  <a:pt x="102488" y="56205"/>
                  <a:pt x="102488" y="63795"/>
                  <a:pt x="100535" y="70995"/>
                </a:cubicBezTo>
                <a:lnTo>
                  <a:pt x="114008" y="83659"/>
                </a:lnTo>
                <a:lnTo>
                  <a:pt x="107494" y="94943"/>
                </a:lnTo>
                <a:lnTo>
                  <a:pt x="89790" y="89607"/>
                </a:lnTo>
                <a:cubicBezTo>
                  <a:pt x="84531" y="94898"/>
                  <a:pt x="77957" y="98693"/>
                  <a:pt x="70746" y="100602"/>
                </a:cubicBezTo>
                <a:lnTo>
                  <a:pt x="66514" y="118602"/>
                </a:lnTo>
                <a:lnTo>
                  <a:pt x="53486" y="118602"/>
                </a:lnTo>
                <a:lnTo>
                  <a:pt x="49254" y="100602"/>
                </a:lnTo>
                <a:cubicBezTo>
                  <a:pt x="42043" y="98693"/>
                  <a:pt x="35469" y="94898"/>
                  <a:pt x="30210" y="89607"/>
                </a:cubicBezTo>
                <a:lnTo>
                  <a:pt x="12506" y="94943"/>
                </a:lnTo>
                <a:lnTo>
                  <a:pt x="5992" y="83659"/>
                </a:lnTo>
                <a:lnTo>
                  <a:pt x="19465" y="70995"/>
                </a:lnTo>
                <a:cubicBezTo>
                  <a:pt x="17512" y="63795"/>
                  <a:pt x="17512" y="56205"/>
                  <a:pt x="19465" y="49005"/>
                </a:cubicBezTo>
                <a:lnTo>
                  <a:pt x="5992" y="36341"/>
                </a:lnTo>
                <a:lnTo>
                  <a:pt x="12506" y="25057"/>
                </a:lnTo>
                <a:lnTo>
                  <a:pt x="30210" y="30393"/>
                </a:lnTo>
                <a:cubicBezTo>
                  <a:pt x="35469" y="25102"/>
                  <a:pt x="42043" y="21307"/>
                  <a:pt x="49254" y="19398"/>
                </a:cubicBezTo>
                <a:lnTo>
                  <a:pt x="53486" y="1398"/>
                </a:lnTo>
                <a:lnTo>
                  <a:pt x="66514" y="1398"/>
                </a:lnTo>
                <a:lnTo>
                  <a:pt x="70746" y="19398"/>
                </a:lnTo>
                <a:cubicBezTo>
                  <a:pt x="77957" y="21307"/>
                  <a:pt x="84531" y="25102"/>
                  <a:pt x="89790" y="30393"/>
                </a:cubicBezTo>
                <a:close/>
              </a:path>
            </a:pathLst>
          </a:custGeom>
          <a:solidFill>
            <a:srgbClr val="FDECDF"/>
          </a:solidFill>
          <a:ln cap="flat" cmpd="sng" w="12700">
            <a:solidFill>
              <a:srgbClr val="FC7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930075" y="4344688"/>
            <a:ext cx="76998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GB" sz="125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Admin-friendly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An administrator can see exactly which documents are loaded and refresh them at any time, without needing a developer.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411500" y="1614813"/>
            <a:ext cx="205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411491" y="240030"/>
            <a:ext cx="7544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WHAT THE SYSTEM IS TRAINED 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411491" y="425196"/>
            <a:ext cx="788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GB" sz="250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7"/>
          <p:cNvSpPr/>
          <p:nvPr/>
        </p:nvSpPr>
        <p:spPr>
          <a:xfrm>
            <a:off x="411491" y="877824"/>
            <a:ext cx="754400" cy="28575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8366983" y="4882896"/>
            <a:ext cx="411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7"/>
          <p:cNvSpPr/>
          <p:nvPr/>
        </p:nvSpPr>
        <p:spPr>
          <a:xfrm>
            <a:off x="411441" y="974135"/>
            <a:ext cx="1954500" cy="891600"/>
          </a:xfrm>
          <a:prstGeom prst="rect">
            <a:avLst/>
          </a:prstGeom>
          <a:solidFill>
            <a:srgbClr val="F7F8FA"/>
          </a:solidFill>
          <a:ln cap="flat" cmpd="sng" w="9525">
            <a:solidFill>
              <a:srgbClr val="D7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514364" y="1268730"/>
            <a:ext cx="17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480098" y="1661940"/>
            <a:ext cx="1817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documents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7"/>
          <p:cNvSpPr/>
          <p:nvPr/>
        </p:nvSpPr>
        <p:spPr>
          <a:xfrm>
            <a:off x="2434671" y="974135"/>
            <a:ext cx="1954500" cy="891600"/>
          </a:xfrm>
          <a:prstGeom prst="rect">
            <a:avLst/>
          </a:prstGeom>
          <a:solidFill>
            <a:srgbClr val="F7F8FA"/>
          </a:solidFill>
          <a:ln cap="flat" cmpd="sng" w="9525">
            <a:solidFill>
              <a:srgbClr val="D7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2571819" y="1268730"/>
            <a:ext cx="17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222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2537453" y="1661940"/>
            <a:ext cx="1817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searchable chunks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4492063" y="974135"/>
            <a:ext cx="1954500" cy="891600"/>
          </a:xfrm>
          <a:prstGeom prst="rect">
            <a:avLst/>
          </a:prstGeom>
          <a:solidFill>
            <a:srgbClr val="F7F8FA"/>
          </a:solidFill>
          <a:ln cap="flat" cmpd="sng" w="9525">
            <a:solidFill>
              <a:srgbClr val="D7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4629273" y="1268730"/>
            <a:ext cx="17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7"/>
          <p:cNvSpPr txBox="1"/>
          <p:nvPr/>
        </p:nvSpPr>
        <p:spPr>
          <a:xfrm>
            <a:off x="4560632" y="1661953"/>
            <a:ext cx="1817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file formats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6549481" y="992285"/>
            <a:ext cx="1954500" cy="891600"/>
          </a:xfrm>
          <a:prstGeom prst="rect">
            <a:avLst/>
          </a:prstGeom>
          <a:solidFill>
            <a:srgbClr val="F7F8FA"/>
          </a:solidFill>
          <a:ln cap="flat" cmpd="sng" w="9525">
            <a:solidFill>
              <a:srgbClr val="D7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6686728" y="1268730"/>
            <a:ext cx="17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6652387" y="1661940"/>
            <a:ext cx="1817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departments covered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480000" y="2100000"/>
            <a:ext cx="460000" cy="460000"/>
          </a:xfrm>
          <a:prstGeom prst="flowChartPredefinedProcess">
            <a:avLst/>
          </a:prstGeom>
          <a:solidFill>
            <a:srgbClr val="FDECDF"/>
          </a:solidFill>
          <a:ln cap="flat" cmpd="sng" w="12700">
            <a:solidFill>
              <a:srgbClr val="FC7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1140000" y="2060000"/>
            <a:ext cx="32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A realistic policy library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HR, IT, Finance, and Operations topics — things like PTO policy, code of conduct, and IT security rules.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4700000" y="2100000"/>
            <a:ext cx="460000" cy="460000"/>
          </a:xfrm>
          <a:prstGeom prst="flowChartMultidocument">
            <a:avLst/>
          </a:prstGeom>
          <a:solidFill>
            <a:srgbClr val="FDECDF"/>
          </a:solidFill>
          <a:ln cap="flat" cmpd="sng" w="12700">
            <a:solidFill>
              <a:srgbClr val="FC7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5360000" y="2060000"/>
            <a:ext cx="32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Four different file types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PDF, Word, web page, and plain text — proving the system can read all of them, not just one.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1140000" y="3260000"/>
            <a:ext cx="32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Checked before adding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Each document was reviewed first, so nothing off-topic or irrelevant ends up in the system's knowledge.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7"/>
          <p:cNvSpPr/>
          <p:nvPr/>
        </p:nvSpPr>
        <p:spPr>
          <a:xfrm>
            <a:off x="4700000" y="3300000"/>
            <a:ext cx="460000" cy="460000"/>
          </a:xfrm>
          <a:prstGeom prst="flowChartInternalStorage">
            <a:avLst/>
          </a:prstGeom>
          <a:solidFill>
            <a:srgbClr val="FDECDF"/>
          </a:solidFill>
          <a:ln cap="flat" cmpd="sng" w="12700">
            <a:solidFill>
              <a:srgbClr val="FC7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5360000" y="3260000"/>
            <a:ext cx="32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Broken into labeled chunks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Every document is split into smaller sections, so answers point to the exact paragraph, not just the file name.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7"/>
          <p:cNvSpPr/>
          <p:nvPr/>
        </p:nvSpPr>
        <p:spPr>
          <a:xfrm>
            <a:off x="479988" y="3362175"/>
            <a:ext cx="460026" cy="460026"/>
          </a:xfrm>
          <a:prstGeom prst="flowChartMultidocument">
            <a:avLst/>
          </a:prstGeom>
          <a:solidFill>
            <a:srgbClr val="FDECDF"/>
          </a:solidFill>
          <a:ln cap="flat" cmpd="sng" w="12700">
            <a:solidFill>
              <a:srgbClr val="FC7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411491" y="240030"/>
            <a:ext cx="75440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HOW THE SYSTEM IS BUILT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411494" y="425200"/>
            <a:ext cx="240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GB" sz="230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411491" y="877824"/>
            <a:ext cx="754400" cy="28575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8366983" y="4882896"/>
            <a:ext cx="4114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6743450" y="535913"/>
            <a:ext cx="135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TWO SIMPLE STEPS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5650000" y="794125"/>
            <a:ext cx="33459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0500" lvl="0" marL="1905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C7900"/>
              </a:buClr>
              <a:buSzPts val="1400"/>
              <a:buFont typeface="Arial"/>
              <a:buChar char="▸"/>
            </a:pPr>
            <a:r>
              <a:rPr b="0" i="0" lang="en-GB" sz="14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1. Loading the documents (done once, or whenever documents change): the system reads every file, splits it into labeled sections, and stores those sections in a searchable index.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19050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FC7900"/>
              </a:buClr>
              <a:buSzPts val="1400"/>
              <a:buFont typeface="Arial"/>
              <a:buChar char="▸"/>
            </a:pPr>
            <a:r>
              <a:rPr b="0" i="0" lang="en-GB" sz="14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2. Answering a question (done every time someone asks something): the system checks the question is safe, searches the index for the most relevant sections, and asks an AI model to write an answer using only those sections</a:t>
            </a:r>
            <a:r>
              <a:rPr lang="en-GB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1F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19050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FC7900"/>
              </a:buClr>
              <a:buSzPts val="1400"/>
              <a:buFont typeface="Arial"/>
              <a:buChar char="▸"/>
            </a:pPr>
            <a:r>
              <a:rPr b="0" i="0" lang="en-GB" sz="14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The two steps are independent — refreshing the documents never slows down or interrupts anyone currently chatting.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000" y="1274965"/>
            <a:ext cx="5459000" cy="3156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411491" y="240030"/>
            <a:ext cx="7544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PROVEN SAFE AND ACCURATE, NOT JUST ASSUMED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9"/>
          <p:cNvSpPr txBox="1"/>
          <p:nvPr/>
        </p:nvSpPr>
        <p:spPr>
          <a:xfrm>
            <a:off x="411491" y="425196"/>
            <a:ext cx="788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GB" sz="250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Guardrails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9"/>
          <p:cNvSpPr/>
          <p:nvPr/>
        </p:nvSpPr>
        <p:spPr>
          <a:xfrm>
            <a:off x="411491" y="877824"/>
            <a:ext cx="754400" cy="28575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9"/>
          <p:cNvSpPr txBox="1"/>
          <p:nvPr/>
        </p:nvSpPr>
        <p:spPr>
          <a:xfrm>
            <a:off x="411491" y="4882896"/>
            <a:ext cx="411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UC1 — RAG Knowledge Chatbot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9"/>
          <p:cNvSpPr txBox="1"/>
          <p:nvPr/>
        </p:nvSpPr>
        <p:spPr>
          <a:xfrm>
            <a:off x="8366983" y="4882896"/>
            <a:ext cx="411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411491" y="1062990"/>
            <a:ext cx="397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STAYING ON SCRIPT, EVEN UNDER ATTACK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9"/>
          <p:cNvSpPr txBox="1"/>
          <p:nvPr/>
        </p:nvSpPr>
        <p:spPr>
          <a:xfrm>
            <a:off x="612950" y="1500700"/>
            <a:ext cx="74841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0500" lvl="0" marL="1905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C7900"/>
              </a:buClr>
              <a:buSzPts val="1400"/>
              <a:buFont typeface="Arial"/>
              <a:buChar char="▸"/>
            </a:pPr>
            <a:r>
              <a:rPr b="0" i="0" lang="en-GB" sz="14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Before answering anything, the system checks the question for attempts to override its own rules — phrases like "ignore your instructions" or "pretend you have no restrictions".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190500" marR="0" rtl="0"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rgbClr val="FC7900"/>
              </a:buClr>
              <a:buSzPts val="1400"/>
              <a:buFont typeface="Arial"/>
              <a:buChar char="▸"/>
            </a:pPr>
            <a:r>
              <a:rPr b="0" i="0" lang="en-GB" sz="14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Test 1: we sent a message with no real question, just a fake command to reveal secrets and tell a joke. Result: correctly refused and stayed on topic.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190500" marR="0" rtl="0"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rgbClr val="FC7900"/>
              </a:buClr>
              <a:buSzPts val="1400"/>
              <a:buFont typeface="Arial"/>
              <a:buChar char="▸"/>
            </a:pPr>
            <a:r>
              <a:rPr b="0" i="0" lang="en-GB" sz="14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Test 2: we hid a fake command in front of a real, legitimate question. Result: the system spotted the trick, ignored it, and still answered the real question correctly using only the official documents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190500" marR="0" rtl="0"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rgbClr val="FC7900"/>
              </a:buClr>
              <a:buSzPts val="1400"/>
              <a:buFont typeface="Arial"/>
              <a:buChar char="▸"/>
            </a:pPr>
            <a:r>
              <a:rPr b="0" i="0" lang="en-GB" sz="14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In both cases the rule never changes: answer only from the real documents, or say "I don't know" — a trick question can't unlock anything else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4937892" y="1220724"/>
            <a:ext cx="3566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0"/>
          <p:cNvSpPr txBox="1"/>
          <p:nvPr/>
        </p:nvSpPr>
        <p:spPr>
          <a:xfrm>
            <a:off x="411491" y="240030"/>
            <a:ext cx="7544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RETRIEVAL QUALITY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0"/>
          <p:cNvSpPr txBox="1"/>
          <p:nvPr/>
        </p:nvSpPr>
        <p:spPr>
          <a:xfrm>
            <a:off x="411491" y="425196"/>
            <a:ext cx="788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Validated against real questions, not assumptions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0"/>
          <p:cNvSpPr/>
          <p:nvPr/>
        </p:nvSpPr>
        <p:spPr>
          <a:xfrm>
            <a:off x="411491" y="877824"/>
            <a:ext cx="754400" cy="28575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8366983" y="4882896"/>
            <a:ext cx="411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0"/>
          <p:cNvSpPr/>
          <p:nvPr/>
        </p:nvSpPr>
        <p:spPr>
          <a:xfrm>
            <a:off x="411491" y="1030410"/>
            <a:ext cx="1954500" cy="891600"/>
          </a:xfrm>
          <a:prstGeom prst="rect">
            <a:avLst/>
          </a:prstGeom>
          <a:solidFill>
            <a:srgbClr val="F7F8FA"/>
          </a:solidFill>
          <a:ln cap="flat" cmpd="sng" w="9525">
            <a:solidFill>
              <a:srgbClr val="D7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514364" y="1268730"/>
            <a:ext cx="17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480073" y="1748790"/>
            <a:ext cx="1817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real test questions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0"/>
          <p:cNvSpPr/>
          <p:nvPr/>
        </p:nvSpPr>
        <p:spPr>
          <a:xfrm>
            <a:off x="2468908" y="1030410"/>
            <a:ext cx="1954500" cy="891600"/>
          </a:xfrm>
          <a:prstGeom prst="rect">
            <a:avLst/>
          </a:prstGeom>
          <a:solidFill>
            <a:srgbClr val="F7F8FA"/>
          </a:solidFill>
          <a:ln cap="flat" cmpd="sng" w="9525">
            <a:solidFill>
              <a:srgbClr val="D7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0"/>
          <p:cNvSpPr txBox="1"/>
          <p:nvPr/>
        </p:nvSpPr>
        <p:spPr>
          <a:xfrm>
            <a:off x="2571819" y="1268730"/>
            <a:ext cx="17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0"/>
          <p:cNvSpPr txBox="1"/>
          <p:nvPr/>
        </p:nvSpPr>
        <p:spPr>
          <a:xfrm>
            <a:off x="2537528" y="1607425"/>
            <a:ext cx="181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refusal threshold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(semantic reranker, 0-4 scale)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0"/>
          <p:cNvSpPr/>
          <p:nvPr/>
        </p:nvSpPr>
        <p:spPr>
          <a:xfrm>
            <a:off x="4526338" y="1030385"/>
            <a:ext cx="1954500" cy="891600"/>
          </a:xfrm>
          <a:prstGeom prst="rect">
            <a:avLst/>
          </a:prstGeom>
          <a:solidFill>
            <a:srgbClr val="F7F8FA"/>
          </a:solidFill>
          <a:ln cap="flat" cmpd="sng" w="9525">
            <a:solidFill>
              <a:srgbClr val="D7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0"/>
          <p:cNvSpPr txBox="1"/>
          <p:nvPr/>
        </p:nvSpPr>
        <p:spPr>
          <a:xfrm>
            <a:off x="4629273" y="1268730"/>
            <a:ext cx="17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0"/>
          <p:cNvSpPr txBox="1"/>
          <p:nvPr/>
        </p:nvSpPr>
        <p:spPr>
          <a:xfrm>
            <a:off x="4594982" y="1748790"/>
            <a:ext cx="1817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corpus formats covered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6583806" y="1030435"/>
            <a:ext cx="1954500" cy="891600"/>
          </a:xfrm>
          <a:prstGeom prst="rect">
            <a:avLst/>
          </a:prstGeom>
          <a:solidFill>
            <a:srgbClr val="F7F8FA"/>
          </a:solidFill>
          <a:ln cap="flat" cmpd="sng" w="9525">
            <a:solidFill>
              <a:srgbClr val="D7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/>
          <p:nvPr/>
        </p:nvSpPr>
        <p:spPr>
          <a:xfrm>
            <a:off x="6686728" y="1268730"/>
            <a:ext cx="17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6652287" y="1700000"/>
            <a:ext cx="1817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deliberate out-of-corpus negatives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0"/>
          <p:cNvSpPr txBox="1"/>
          <p:nvPr/>
        </p:nvSpPr>
        <p:spPr>
          <a:xfrm>
            <a:off x="411491" y="2110000"/>
            <a:ext cx="8259400" cy="2684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0500" lvl="0" marL="1905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C7900"/>
              </a:buClr>
              <a:buSzPts val="1400"/>
              <a:buFont typeface="Arial"/>
              <a:buChar char="▸"/>
            </a:pPr>
            <a:r>
              <a:rPr b="0" i="0" lang="en-GB" sz="13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Correct, cited answers across all 4 formats — PDF, DOCX, HTML, Markdown all retrievable and citable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1905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C7900"/>
              </a:buClr>
              <a:buSzPts val="1400"/>
              <a:buFont typeface="Arial"/>
              <a:buChar char="▸"/>
            </a:pPr>
            <a:r>
              <a:rPr b="0" i="0" lang="en-GB" sz="13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Out-of-corpus questions (“What is the capital of France?”) correctly refused, even plausible-sounding HR-adjacent ones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1905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C7900"/>
              </a:buClr>
              <a:buSzPts val="1400"/>
              <a:buFont typeface="Arial"/>
              <a:buChar char="▸"/>
            </a:pPr>
            <a:r>
              <a:rPr b="0" i="0" lang="en-GB" sz="13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Multi-turn follow-up (“tell me more about that”) correctly resolved via query condensing, not a spurious refusal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1905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C7900"/>
              </a:buClr>
              <a:buSzPts val="1400"/>
              <a:buFont typeface="Arial"/>
              <a:buChar char="▸"/>
            </a:pPr>
            <a:r>
              <a:rPr b="0" i="0" lang="en-GB" sz="13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Citation display tuned: suppressed whenever the answer's opening sentence is a “no knowledge base” disclaimer, even if real sources were retrieved underneath — avoids a Sources panel contradicting the headline answer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1905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C7900"/>
              </a:buClr>
              <a:buSzPts val="1400"/>
              <a:buFont typeface="Arial"/>
              <a:buChar char="▸"/>
            </a:pPr>
            <a:r>
              <a:rPr b="0" i="0" lang="en-GB" sz="13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Refusal threshold itself was a real bug found by testing: initially calibrated on the wrong score scale (0.55 instead of ~2.0) before being corrected against real in-corpus vs. out-of-corpus scores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411491" y="425196"/>
            <a:ext cx="788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Comparisons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411491" y="877824"/>
            <a:ext cx="754400" cy="28575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411491" y="4882896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UC1 — RAG Knowledge Chatbot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1"/>
          <p:cNvSpPr txBox="1"/>
          <p:nvPr/>
        </p:nvSpPr>
        <p:spPr>
          <a:xfrm>
            <a:off x="8366983" y="4882896"/>
            <a:ext cx="411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6" name="Google Shape;246;p31"/>
          <p:cNvGraphicFramePr/>
          <p:nvPr/>
        </p:nvGraphicFramePr>
        <p:xfrm>
          <a:off x="411491" y="11315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{D5191BD8-FE15-4E43-8A34-7B9FF9A39349}</a:tableStyleId>
              </a:tblPr>
              <a:tblGrid>
                <a:gridCol w="1645950"/>
                <a:gridCol w="1988850"/>
                <a:gridCol w="4663550"/>
              </a:tblGrid>
              <a:tr h="67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FFFFFF"/>
                          </a:solidFill>
                        </a:rPr>
                        <a:t>Decision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1821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FFFFFF"/>
                          </a:solidFill>
                        </a:rPr>
                        <a:t>What we chose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1821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FFFFFF"/>
                          </a:solidFill>
                        </a:rPr>
                        <a:t>What we didn't choose, and why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182127"/>
                    </a:solidFill>
                  </a:tcPr>
                </a:tc>
              </a:tr>
              <a:tr h="67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GB" sz="1300" u="none" cap="none" strike="noStrike">
                          <a:solidFill>
                            <a:srgbClr val="1F2430"/>
                          </a:solidFill>
                        </a:rPr>
                        <a:t>How documents are split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rgbClr val="1F2430"/>
                          </a:solidFill>
                        </a:rPr>
                        <a:t>Structure aware chunking is used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rgbClr val="1F2430"/>
                          </a:solidFill>
                        </a:rPr>
                        <a:t>Fixed chunking strategy didn't worked here there is problem in pulling citations.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FFFFF"/>
                    </a:solidFill>
                  </a:tcPr>
                </a:tc>
              </a:tr>
              <a:tr h="67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GB" sz="1300" u="none" cap="none" strike="noStrike">
                          <a:solidFill>
                            <a:srgbClr val="1F2430"/>
                          </a:solidFill>
                        </a:rPr>
                        <a:t>How the system searches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rgbClr val="1F2430"/>
                          </a:solidFill>
                        </a:rPr>
                        <a:t>Semantic search + Vector</a:t>
                      </a:r>
                      <a:endParaRPr sz="1300" u="none" cap="none" strike="noStrike">
                        <a:solidFill>
                          <a:srgbClr val="1F243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rgbClr val="1F2430"/>
                          </a:solidFill>
                        </a:rPr>
                        <a:t>Based search + Lexical Search(keyword based)</a:t>
                      </a:r>
                      <a:endParaRPr sz="1300" u="none" cap="none" strike="noStrike">
                        <a:solidFill>
                          <a:srgbClr val="1F2430"/>
                        </a:solidFill>
                      </a:endParaRPr>
                    </a:p>
                  </a:txBody>
                  <a:tcPr marT="47625" marB="47625" marR="68600" marL="762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1F2430"/>
                          </a:solidFill>
                        </a:rPr>
                        <a:t>Meaning-based search alone — it can miss exact policy names or section numbers</a:t>
                      </a:r>
                      <a:r>
                        <a:rPr lang="en-GB" sz="1300" u="none" cap="none" strike="noStrike">
                          <a:solidFill>
                            <a:srgbClr val="1F2430"/>
                          </a:solidFill>
                        </a:rPr>
                        <a:t>.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4F6FA"/>
                    </a:solidFill>
                  </a:tcPr>
                </a:tc>
              </a:tr>
              <a:tr h="67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GB" sz="1300" u="none" cap="none" strike="noStrike">
                          <a:solidFill>
                            <a:srgbClr val="1F2430"/>
                          </a:solidFill>
                        </a:rPr>
                        <a:t>Which AI model answers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1F2430"/>
                          </a:solidFill>
                        </a:rPr>
                        <a:t>GPT-5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1F2430"/>
                          </a:solidFill>
                        </a:rPr>
                        <a:t>A newer model (GPT-5.5) — no better answers in testing, but allows far fewer questions per minute</a:t>
                      </a:r>
                      <a:r>
                        <a:rPr lang="en-GB" sz="1300" u="none" cap="none" strike="noStrike">
                          <a:solidFill>
                            <a:srgbClr val="1F2430"/>
                          </a:solidFill>
                        </a:rPr>
                        <a:t>.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FFFFF"/>
                    </a:solidFill>
                  </a:tcPr>
                </a:tc>
              </a:tr>
              <a:tr h="67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GB" sz="1300" u="none" cap="none" strike="noStrike">
                          <a:solidFill>
                            <a:srgbClr val="1F2430"/>
                          </a:solidFill>
                        </a:rPr>
                        <a:t>Where conversations are stored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1F2430"/>
                          </a:solidFill>
                        </a:rPr>
                        <a:t>A standard relational database (Postgres)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1F2430"/>
                          </a:solidFill>
                        </a:rPr>
                        <a:t>A document-style database — a worse fit for structured data like </a:t>
                      </a:r>
                      <a:r>
                        <a:rPr lang="en-GB" sz="1300" u="none" cap="none" strike="noStrike">
                          <a:solidFill>
                            <a:srgbClr val="1F2430"/>
                          </a:solidFill>
                        </a:rPr>
                        <a:t>we got.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pic>
        <p:nvPicPr>
          <p:cNvPr id="247" name="Google Shape;24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925" y="1035350"/>
            <a:ext cx="8829850" cy="371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2"/>
          <p:cNvSpPr txBox="1"/>
          <p:nvPr/>
        </p:nvSpPr>
        <p:spPr>
          <a:xfrm>
            <a:off x="411491" y="240030"/>
            <a:ext cx="7544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WHERE IT ACTUALLY RUNS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2"/>
          <p:cNvSpPr txBox="1"/>
          <p:nvPr/>
        </p:nvSpPr>
        <p:spPr>
          <a:xfrm>
            <a:off x="411491" y="425196"/>
            <a:ext cx="788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GB" sz="250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411491" y="877824"/>
            <a:ext cx="754400" cy="28575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2"/>
          <p:cNvSpPr txBox="1"/>
          <p:nvPr/>
        </p:nvSpPr>
        <p:spPr>
          <a:xfrm>
            <a:off x="411491" y="4882896"/>
            <a:ext cx="411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UC1 — RAG Knowledge Chatbot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2"/>
          <p:cNvSpPr txBox="1"/>
          <p:nvPr/>
        </p:nvSpPr>
        <p:spPr>
          <a:xfrm>
            <a:off x="8366983" y="4882896"/>
            <a:ext cx="411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1900" y="810100"/>
            <a:ext cx="6147098" cy="40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3"/>
          <p:cNvSpPr txBox="1"/>
          <p:nvPr/>
        </p:nvSpPr>
        <p:spPr>
          <a:xfrm>
            <a:off x="411491" y="240030"/>
            <a:ext cx="7544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REAL PROBLEMS, FOUND BY ACTUALLY TESTING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3"/>
          <p:cNvSpPr txBox="1"/>
          <p:nvPr/>
        </p:nvSpPr>
        <p:spPr>
          <a:xfrm>
            <a:off x="411491" y="425196"/>
            <a:ext cx="788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3"/>
          <p:cNvSpPr/>
          <p:nvPr/>
        </p:nvSpPr>
        <p:spPr>
          <a:xfrm>
            <a:off x="411491" y="877824"/>
            <a:ext cx="754400" cy="28575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3"/>
          <p:cNvSpPr txBox="1"/>
          <p:nvPr/>
        </p:nvSpPr>
        <p:spPr>
          <a:xfrm>
            <a:off x="411491" y="4882896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UC1 — RAG Knowledge Chatbot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3"/>
          <p:cNvSpPr txBox="1"/>
          <p:nvPr/>
        </p:nvSpPr>
        <p:spPr>
          <a:xfrm>
            <a:off x="8366983" y="4882896"/>
            <a:ext cx="411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9" name="Google Shape;269;p33"/>
          <p:cNvGraphicFramePr/>
          <p:nvPr/>
        </p:nvGraphicFramePr>
        <p:xfrm>
          <a:off x="411491" y="1097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{D5191BD8-FE15-4E43-8A34-7B9FF9A39349}</a:tableStyleId>
              </a:tblPr>
              <a:tblGrid>
                <a:gridCol w="1988850"/>
                <a:gridCol w="3223325"/>
                <a:gridCol w="3086175"/>
              </a:tblGrid>
              <a:tr h="67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FFFFFF"/>
                          </a:solidFill>
                        </a:rPr>
                        <a:t>What went wrong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1821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FFFFFF"/>
                          </a:solidFill>
                        </a:rPr>
                        <a:t>Why it happened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1821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FFFFFF"/>
                          </a:solidFill>
                        </a:rPr>
                        <a:t>How it was fixed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182127"/>
                    </a:solidFill>
                  </a:tcPr>
                </a:tc>
              </a:tr>
              <a:tr h="67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GB" sz="1300" u="none" cap="none" strike="noStrike">
                          <a:solidFill>
                            <a:srgbClr val="1F2430"/>
                          </a:solidFill>
                        </a:rPr>
                        <a:t>Refreshing documents froze the entire site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1F2430"/>
                          </a:solidFill>
                        </a:rPr>
                        <a:t>The refresh process ran on the same thread as everything else, so nobody could use the chat</a:t>
                      </a:r>
                      <a:r>
                        <a:rPr lang="en-GB" sz="1300">
                          <a:solidFill>
                            <a:srgbClr val="1F2430"/>
                          </a:solidFill>
                        </a:rPr>
                        <a:t> while running re-index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1F2430"/>
                          </a:solidFill>
                        </a:rPr>
                        <a:t>Refresh now runs in the background so chatting is never interrupted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FFFFF"/>
                    </a:solidFill>
                  </a:tcPr>
                </a:tc>
              </a:tr>
              <a:tr h="67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GB" sz="1300" u="none" cap="none" strike="noStrike">
                          <a:solidFill>
                            <a:srgbClr val="1F2430"/>
                          </a:solidFill>
                        </a:rPr>
                        <a:t>One refresh got stuck and never finished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1F2430"/>
                          </a:solidFill>
                        </a:rPr>
                        <a:t>A single network call had no time limit, so it could hang forever with no warning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1F2430"/>
                          </a:solidFill>
                        </a:rPr>
                        <a:t>given every step a maximum wait time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4F6FA"/>
                    </a:solidFill>
                  </a:tcPr>
                </a:tc>
              </a:tr>
              <a:tr h="67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GB" sz="1300" u="none" cap="none" strike="noStrike">
                          <a:solidFill>
                            <a:srgbClr val="1F2430"/>
                          </a:solidFill>
                        </a:rPr>
                        <a:t>Test and live versions overwrite each other's data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1F2430"/>
                          </a:solidFill>
                        </a:rPr>
                        <a:t>Both environments were pointed at the same search index by mistake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1F2430"/>
                          </a:solidFill>
                        </a:rPr>
                        <a:t>Each environment now has its own separate index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FFFFF"/>
                    </a:solidFill>
                  </a:tcPr>
                </a:tc>
              </a:tr>
              <a:tr h="67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GB" sz="1300" u="none" cap="none" strike="noStrike">
                          <a:solidFill>
                            <a:srgbClr val="1F2430"/>
                          </a:solidFill>
                        </a:rPr>
                        <a:t>The app looked broken after sitting idle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1F2430"/>
                          </a:solidFill>
                        </a:rPr>
                        <a:t>The free hosting tier shuts the server down after inactivity</a:t>
                      </a:r>
                      <a:r>
                        <a:rPr lang="en-GB" sz="1300">
                          <a:solidFill>
                            <a:srgbClr val="1F2430"/>
                          </a:solidFill>
                        </a:rPr>
                        <a:t>.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1F2430"/>
                          </a:solidFill>
                        </a:rPr>
                        <a:t>The website now shows </a:t>
                      </a:r>
                      <a:r>
                        <a:rPr lang="en-GB" sz="1300" u="none" cap="none" strike="noStrike">
                          <a:solidFill>
                            <a:srgbClr val="1F2430"/>
                          </a:solidFill>
                        </a:rPr>
                        <a:t>“</a:t>
                      </a:r>
                      <a:r>
                        <a:rPr b="0" lang="en-GB" sz="1300" u="none" cap="none" strike="noStrike">
                          <a:solidFill>
                            <a:srgbClr val="1F2430"/>
                          </a:solidFill>
                        </a:rPr>
                        <a:t>please wait" instead of looking broken</a:t>
                      </a:r>
                      <a:endParaRPr sz="1400" u="none" cap="none" strike="noStrike"/>
                    </a:p>
                  </a:txBody>
                  <a:tcPr marT="47625" marB="47625" marR="68600" marL="7620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4"/>
          <p:cNvSpPr txBox="1"/>
          <p:nvPr/>
        </p:nvSpPr>
        <p:spPr>
          <a:xfrm>
            <a:off x="411491" y="240030"/>
            <a:ext cx="7544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WHAT IT ACTUALLY COSTS TO RUN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4"/>
          <p:cNvSpPr txBox="1"/>
          <p:nvPr/>
        </p:nvSpPr>
        <p:spPr>
          <a:xfrm>
            <a:off x="411491" y="425196"/>
            <a:ext cx="788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4"/>
          <p:cNvSpPr/>
          <p:nvPr/>
        </p:nvSpPr>
        <p:spPr>
          <a:xfrm>
            <a:off x="411491" y="877824"/>
            <a:ext cx="754400" cy="28575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4"/>
          <p:cNvSpPr txBox="1"/>
          <p:nvPr/>
        </p:nvSpPr>
        <p:spPr>
          <a:xfrm>
            <a:off x="411491" y="4882896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UC1 — RAG Knowledge Chatbot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4"/>
          <p:cNvSpPr txBox="1"/>
          <p:nvPr/>
        </p:nvSpPr>
        <p:spPr>
          <a:xfrm>
            <a:off x="8366983" y="4882896"/>
            <a:ext cx="411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4"/>
          <p:cNvSpPr txBox="1"/>
          <p:nvPr/>
        </p:nvSpPr>
        <p:spPr>
          <a:xfrm>
            <a:off x="6172365" y="1165860"/>
            <a:ext cx="2537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     100 vs 5,000 EMPLOYEES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4"/>
          <p:cNvSpPr txBox="1"/>
          <p:nvPr/>
        </p:nvSpPr>
        <p:spPr>
          <a:xfrm>
            <a:off x="6355715" y="1508760"/>
            <a:ext cx="2537400" cy="15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0500" lvl="0" marL="1905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C7900"/>
              </a:buClr>
              <a:buSzPts val="1400"/>
              <a:buFont typeface="Arial"/>
              <a:buChar char="▸"/>
            </a:pPr>
            <a:r>
              <a:rPr b="0" i="0" lang="en-GB" sz="14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$1.65/day → $82.50/day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19050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FC7900"/>
              </a:buClr>
              <a:buSzPts val="1400"/>
              <a:buFont typeface="Arial"/>
              <a:buChar char="▸"/>
            </a:pPr>
            <a:r>
              <a:rPr b="0" i="0" lang="en-GB" sz="14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$49.50/month → $2,475/month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19050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FC7900"/>
              </a:buClr>
              <a:buSzPts val="1400"/>
              <a:buFont typeface="Arial"/>
              <a:buChar char="▸"/>
            </a:pPr>
            <a:r>
              <a:rPr b="0" i="0" lang="en-GB" sz="14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Still well within the system's usage limits at 5,000 employees — no upgrade needed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4"/>
          <p:cNvSpPr txBox="1"/>
          <p:nvPr/>
        </p:nvSpPr>
        <p:spPr>
          <a:xfrm>
            <a:off x="480266" y="3394195"/>
            <a:ext cx="82983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rgbClr val="45506A"/>
                </a:solidFill>
                <a:latin typeface="Calibri"/>
                <a:ea typeface="Calibri"/>
                <a:cs typeface="Calibri"/>
                <a:sym typeface="Calibri"/>
              </a:rPr>
              <a:t>GPT-5 was chosen not because it's the cheapest, but because it can handle far more questions per minute than the alternatives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58799"/>
            <a:ext cx="5867565" cy="2140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5"/>
          <p:cNvSpPr txBox="1"/>
          <p:nvPr/>
        </p:nvSpPr>
        <p:spPr>
          <a:xfrm>
            <a:off x="411491" y="240030"/>
            <a:ext cx="7544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C7900"/>
                </a:solidFill>
                <a:latin typeface="Calibri"/>
                <a:ea typeface="Calibri"/>
                <a:cs typeface="Calibri"/>
                <a:sym typeface="Calibri"/>
              </a:rPr>
              <a:t>WHAT WE BUILT AND WHAT'S NEXT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5"/>
          <p:cNvSpPr txBox="1"/>
          <p:nvPr/>
        </p:nvSpPr>
        <p:spPr>
          <a:xfrm>
            <a:off x="411491" y="425196"/>
            <a:ext cx="788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GB" sz="2500" u="none" cap="none" strike="noStrike">
                <a:solidFill>
                  <a:srgbClr val="182127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5"/>
          <p:cNvSpPr/>
          <p:nvPr/>
        </p:nvSpPr>
        <p:spPr>
          <a:xfrm>
            <a:off x="411491" y="877824"/>
            <a:ext cx="754400" cy="28575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5"/>
          <p:cNvSpPr txBox="1"/>
          <p:nvPr/>
        </p:nvSpPr>
        <p:spPr>
          <a:xfrm>
            <a:off x="411491" y="4882896"/>
            <a:ext cx="411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UC1 — RAG Knowledge Chatbot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5"/>
          <p:cNvSpPr txBox="1"/>
          <p:nvPr/>
        </p:nvSpPr>
        <p:spPr>
          <a:xfrm>
            <a:off x="8366983" y="4882896"/>
            <a:ext cx="411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5"/>
          <p:cNvSpPr txBox="1"/>
          <p:nvPr/>
        </p:nvSpPr>
        <p:spPr>
          <a:xfrm>
            <a:off x="411500" y="1165851"/>
            <a:ext cx="8229900" cy="3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0500" lvl="0" marL="1905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C7900"/>
              </a:buClr>
              <a:buSzPts val="1500"/>
              <a:buFont typeface="Arial"/>
              <a:buChar char="▸"/>
            </a:pPr>
            <a:r>
              <a:rPr b="0" i="0" lang="en-GB" sz="15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A working chatbot, live right now, that answers only from real company documents, always shows its sources, and honestly says "I don't know" when it should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190500" marR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Clr>
                <a:srgbClr val="FC7900"/>
              </a:buClr>
              <a:buSzPts val="1500"/>
              <a:buFont typeface="Arial"/>
              <a:buChar char="▸"/>
            </a:pPr>
            <a:r>
              <a:rPr b="0" i="0" lang="en-GB" sz="15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Tested against real trick questions and real attack attempts — not just assumed to be safe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190500" marR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Clr>
                <a:srgbClr val="FC7900"/>
              </a:buClr>
              <a:buSzPts val="1500"/>
              <a:buFont typeface="Arial"/>
              <a:buChar char="▸"/>
            </a:pPr>
            <a:r>
              <a:rPr b="0" i="0" lang="en-GB" sz="15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Every major design choice was compared against at least one real alternative and picked for a specific, provable reason — not guessed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190500" marR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Clr>
                <a:srgbClr val="FC7900"/>
              </a:buClr>
              <a:buSzPts val="1500"/>
              <a:buFont typeface="Arial"/>
              <a:buChar char="▸"/>
            </a:pPr>
            <a:r>
              <a:rPr b="0" i="0" lang="en-GB" sz="15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Real problems were found by actually using the system, not just reading the code, and most are already fixed</a:t>
            </a:r>
            <a:endParaRPr sz="1500">
              <a:solidFill>
                <a:srgbClr val="1F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Future works</a:t>
            </a:r>
            <a:r>
              <a:rPr lang="en-GB" sz="15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0" i="0" lang="en-GB" sz="15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add a time limit to prevent any single step from hanging forever, build an automated test that re-checks answer quality after every change, and add per-user usage limits before opening this up to many more employees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